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Artificial Intelligence in Enterprise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Balancing Innovation, Security and Ethical Responsibility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D2B1"/>
                </a:solidFill>
                <a:latin typeface="Aptos"/>
              </a:defRPr>
            </a:pPr>
            <a:r>
              <a:t>CRITICAL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51176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7F9FD"/>
                </a:solidFill>
                <a:latin typeface="Aptos"/>
              </a:defRPr>
            </a:pPr>
            <a:r>
              <a:t>Evidence • Operational Experience •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251960"/>
            <a:ext cx="10561320" cy="102412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5902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University of Essex Online  |  MSc Cybersecurity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How AI Works in Enterprise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Technical overview: machine learning and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2697480" cy="160020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0756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D2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1460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Historical data &amp;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D2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901952"/>
            <a:ext cx="2697480" cy="160020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0756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D2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Machine learning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D2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1901952"/>
            <a:ext cx="2697480" cy="160020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0756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D2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Detection /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D2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1901952"/>
            <a:ext cx="2697480" cy="160020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37192" y="20756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D2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251460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Human review &amp;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86200"/>
            <a:ext cx="5248656" cy="15910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087368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050791"/>
            <a:ext cx="4700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Rule-based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690872"/>
            <a:ext cx="47000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Follows predefined conditions.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886200"/>
            <a:ext cx="5248656" cy="15910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27648" y="4087368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4050791"/>
            <a:ext cx="4700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690872"/>
            <a:ext cx="47000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Identifies patterns learned from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Limit: unusual behaviour does not automatically mean a genuine security incident.  |  Buczak and Guven (2016); Sommer and Paxson (2010)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Enterprise Applications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Benefits must be evaluated against operational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591056"/>
            <a:ext cx="3520440" cy="32461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1792224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7556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Fraud &amp; threat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95728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Find suspicious activity and anomalies.</a:t>
            </a:r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Limit: false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591056"/>
            <a:ext cx="3520440" cy="32461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17136" y="1792224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17556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95728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Anticipate equipment failures from historical and sensor data.</a:t>
            </a:r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Limit: data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591056"/>
            <a:ext cx="3520440" cy="32461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6448" y="1792224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7556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Incident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95728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Assist classification and prioritisation.</a:t>
            </a:r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Limit: missed or duplicate incidents.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230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Critical insight: More alerts do not necessarily mean better incident detection.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Buczak and Guven (2016); Carvalho et al. (2019); Sommer and Paxson (2010)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Professional Case Study: Adaptive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Anonymised operational experience in EV charging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417320"/>
            <a:ext cx="5029200" cy="7132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91056"/>
            <a:ext cx="4599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Historical tickets + logs + bot test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2B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404872"/>
            <a:ext cx="5029200" cy="7132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599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Proposed playbook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090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2B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392424"/>
            <a:ext cx="5029200" cy="7132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566160"/>
            <a:ext cx="4599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Employee verification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078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2B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379976"/>
            <a:ext cx="5029200" cy="7132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553712"/>
            <a:ext cx="45994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Approved process 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90472"/>
            <a:ext cx="5138928" cy="186537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91639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655063"/>
            <a:ext cx="4590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Potential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295144"/>
            <a:ext cx="4590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Reduce duplicate work; reuse knowledge; support faster handling.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11880"/>
            <a:ext cx="5138928" cy="184708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813048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776472"/>
            <a:ext cx="4590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459028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Incorrect recommendations, human error and missed incidents.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Conceptual workflow based on professional observations. Underlying algorithm is not verified as AI/ML.  |  Parasuraman and Riley (1997)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Cybersecurity Risks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Technical failure modes require different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35608"/>
            <a:ext cx="5440680" cy="16459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636776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0020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Unnecessary alerts and analyst workload.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435608"/>
            <a:ext cx="5440680" cy="16459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11112" y="1636776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60020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False negatives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4028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Real incidents may remain undetected.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440680" cy="16459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3538728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50215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Data poisoning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4223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Manipulated training data can alter model behaviour.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3337560"/>
            <a:ext cx="5440680" cy="16459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11112" y="3538728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350215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Model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14223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Performance can degrade when conditions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4406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Risk should be judged by both detection performance and the consequences of errors.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Sommer and Paxson (2010); Biggio and Roli (2018); Sculley et al. (2015)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Ethical Challenges and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Ethical AI requires more than a formal approval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35608"/>
            <a:ext cx="5440680" cy="166420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636776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0020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Bias &amp; 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892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Historical data may reinforce unfair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435608"/>
            <a:ext cx="5440680" cy="166420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11112" y="1636776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60020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40280"/>
            <a:ext cx="4892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Protect personal information in data and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46704"/>
            <a:ext cx="5440680" cy="166420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3547872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51129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51376"/>
            <a:ext cx="4892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Define responsibility for automated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3346704"/>
            <a:ext cx="5440680" cy="166420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11112" y="3547872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351129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Automation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151376"/>
            <a:ext cx="4892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D"/>
                </a:solidFill>
                <a:latin typeface="Aptos"/>
              </a:defRPr>
            </a:pPr>
            <a:r>
              <a:t>Reviewers may trust recommendations too readily.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547725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7F9FD"/>
                </a:solidFill>
                <a:latin typeface="Aptos"/>
              </a:defRPr>
            </a:pPr>
            <a:r>
              <a:t>In the EV charging case, only employees authorise on-site interventions; bot test results inform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Jobin et al. (2019); Mehrabi et al. (2021); Parasuraman and Riley (1997); Mittelstadt (2019)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Governance: Balancing Innovation and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rPr dirty="0"/>
              <a:t>NIST AI RMF, GDPR and the EU AI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80744"/>
            <a:ext cx="5431536" cy="1380744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581912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545336"/>
            <a:ext cx="4882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85416"/>
            <a:ext cx="48828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7F9FD"/>
                </a:solidFill>
                <a:latin typeface="Aptos"/>
              </a:defRPr>
            </a:pPr>
            <a:r>
              <a:t>Ownership and accountability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380744"/>
            <a:ext cx="5431536" cy="1380744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11112" y="1581912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545336"/>
            <a:ext cx="4882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85416"/>
            <a:ext cx="48828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7F9FD"/>
                </a:solidFill>
                <a:latin typeface="Aptos"/>
              </a:defRPr>
            </a:pPr>
            <a:r>
              <a:t>Identify context and harms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980944"/>
            <a:ext cx="5431536" cy="1380744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3182112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145536"/>
            <a:ext cx="4882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85615"/>
            <a:ext cx="48828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7F9FD"/>
                </a:solidFill>
                <a:latin typeface="Aptos"/>
              </a:defRPr>
            </a:pPr>
            <a:r>
              <a:t>Test precision, recall and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2980944"/>
            <a:ext cx="5431536" cy="1380744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11112" y="3182112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3145536"/>
            <a:ext cx="4882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785615"/>
            <a:ext cx="48828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7F9FD"/>
                </a:solidFill>
                <a:latin typeface="Aptos"/>
              </a:defRPr>
            </a:pPr>
            <a:r>
              <a:t>Monitor, mitigate and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82312"/>
            <a:ext cx="10762488" cy="82296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5029200"/>
            <a:ext cx="101498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GDPR: personal data protection    |    EU AI Act: risk-based legal obligations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NIST (2023), AI RMF 1.0 (voluntary); Regulation (EU) 2016/679; Regulation (EU) 2024/1689. Applicability must be assessed.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Claude (Anthropic): GenAI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Clearly identified AI-generated material — not independent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335024"/>
            <a:ext cx="10753344" cy="116128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63624"/>
            <a:ext cx="1024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ORIGINAL PROMPT (VERBATIM)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“Emerging technologies such as AI, Quantum Computing, and </a:t>
            </a:r>
            <a:r>
              <a:rPr lang="en-US" sz="1200" dirty="0" err="1">
                <a:solidFill>
                  <a:schemeClr val="bg1"/>
                </a:solidFill>
              </a:rPr>
              <a:t>Blockchain</a:t>
            </a:r>
            <a:r>
              <a:rPr lang="en-US" sz="1200" dirty="0">
                <a:solidFill>
                  <a:schemeClr val="bg1"/>
                </a:solidFill>
              </a:rPr>
              <a:t> offer tremendous potential but also introduce significant ethical and security risks. Critically evaluate one of these technologies and discuss how enterprises can balance innovation with security and ethical considerations.”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422392" cy="11887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944368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907792"/>
            <a:ext cx="4873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7F9FD"/>
                </a:solidFill>
                <a:latin typeface="Aptos"/>
              </a:defRPr>
            </a:pPr>
            <a:r>
              <a:t>Productivity; pattern detection; accessibility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2743200"/>
            <a:ext cx="5422392" cy="11887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01968" y="2944368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2907792"/>
            <a:ext cx="4873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3547872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7F9FD"/>
                </a:solidFill>
                <a:latin typeface="Aptos"/>
              </a:defRPr>
            </a:pPr>
            <a:r>
              <a:t>Prompt injection; leakage; poisoning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05656"/>
            <a:ext cx="5422392" cy="11887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4306824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270248"/>
            <a:ext cx="4873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Ethics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91032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7F9FD"/>
                </a:solidFill>
                <a:latin typeface="Aptos"/>
              </a:defRPr>
            </a:pPr>
            <a:r>
              <a:t>Bias; privacy; accountability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4105656"/>
            <a:ext cx="5422392" cy="1188720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01968" y="4306824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4270248"/>
            <a:ext cx="4873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91032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7F9FD"/>
                </a:solidFill>
                <a:latin typeface="Aptos"/>
              </a:defRPr>
            </a:pPr>
            <a:r>
              <a:t>Risk tiers; human oversight;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Claude (Anthropic), October 2026. User-provided response summarised; retain the original output separately.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Critical Comparison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Independent research and GenAI offer different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5376672" cy="32278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682496"/>
            <a:ext cx="50292" cy="310896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4828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Independent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82803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Strength: peer-reviewed evidence and operational context.</a:t>
            </a:r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Limit: one case does not generalise to every enterprise.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81328"/>
            <a:ext cx="5212080" cy="32278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28232" y="1682496"/>
            <a:ext cx="50292" cy="310896"/>
          </a:xfrm>
          <a:prstGeom prst="rect">
            <a:avLst/>
          </a:prstGeom>
          <a:solidFill>
            <a:srgbClr val="F4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4592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7F9FD"/>
                </a:solidFill>
                <a:latin typeface="Aptos"/>
              </a:defRPr>
            </a:pPr>
            <a:r>
              <a:t>Claude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66344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Strength: broad, well-structured risk overview.</a:t>
            </a:r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F7F9FD"/>
                </a:solidFill>
                <a:latin typeface="Aptos"/>
              </a:defRPr>
            </a:pPr>
            <a:r>
              <a:t>Limit: no academic citations or case-specific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965192"/>
            <a:ext cx="10652760" cy="80467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184648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7F9FD"/>
                </a:solidFill>
                <a:latin typeface="Aptos"/>
              </a:defRPr>
            </a:pPr>
            <a:r>
              <a:t>Conclusion: adopt AI with evidence, measurable safeguards and meaningful oversight.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Evaluation based on Claude output (October 2026) and cited academic literature.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11480"/>
            <a:ext cx="73152" cy="484632"/>
          </a:xfrm>
          <a:prstGeom prst="rect">
            <a:avLst/>
          </a:prstGeom>
          <a:solidFill>
            <a:srgbClr val="34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7F9FD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966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2C5"/>
                </a:solidFill>
                <a:latin typeface="Aptos"/>
              </a:defRPr>
            </a:pPr>
            <a:r>
              <a:t>Harvard-style academic and regulatory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9672"/>
            <a:ext cx="10835640" cy="12801"/>
          </a:xfrm>
          <a:prstGeom prst="rect">
            <a:avLst/>
          </a:prstGeom>
          <a:solidFill>
            <a:srgbClr val="42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7453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2C5"/>
                </a:solidFill>
                <a:latin typeface="Aptos"/>
              </a:defRPr>
            </a:pPr>
            <a:r>
              <a:t>MSc Cybersecurity  •  Final Assessment 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2B1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07592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389888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Buczak, A.L. and Guven, E. (2016) “A survey of data mining and machine learning methods for cyber security intrusion detection”, IEEE Communications Surveys &amp; Tutorials, 18(2), pp. 1153–1176.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75688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57984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Carvalho, T.P. et al. (2019) “A systematic literature review of machine learning methods applied to predictive maintenance”, Computers &amp; Industrial Engineering, 137, 106024.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843784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926079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Biggio, B. and Roli, F. (2018) “Wild patterns: Ten years after the rise of adversarial machine learning”, Pattern Recognition, 84, pp. 317–331.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611880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694176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Mehrabi, N. et al. (2021) “A survey on bias and fairness in machine learning”, ACM Computing Surveys, 54(6), article 115.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379976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462272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Jobin, A., Ienca, M. and Vayena, E. (2019) “The global landscape of AI ethics guidelines”, Nature Machine Intelligence, 1, pp. 389–399.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148072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5230368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Parasuraman, R. and Riley, V. (1997) “Humans and automation: Use, misuse, disuse, abuse”, Human Factors, 39(2), pp. 230–253.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307592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1389888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Amershi, S. et al. (2019) “Software engineering for machine learning: A case study”, Proceedings of ICSE-SEIP 2019.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75688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74536" y="2157984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Sculley, D. et al. (2015) “Hidden technical debt in machine learning systems”, Advances in Neural Information Processing Systems, 28.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43784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74536" y="2926079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Mittelstadt, B. (2019) “Principles alone cannot guarantee ethical AI”, Nature Machine Intelligence, 1, pp. 501–507.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611880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74536" y="3694176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Sommer, R. and Paxson, V. (2010) “Outside the closed world: On using machine learning for network intrusion detection”, IEEE Symposium on Security and Privacy.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379976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4536" y="4462272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NIST (2023) Artificial Intelligence Risk Management Framework (AI RMF 1.0). NIST AI 100-1.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5148072"/>
            <a:ext cx="5468112" cy="676656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74536" y="5230368"/>
            <a:ext cx="5202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0" b="0">
                <a:solidFill>
                  <a:srgbClr val="F7F9FD"/>
                </a:solidFill>
                <a:latin typeface="Aptos"/>
              </a:defRPr>
            </a:pPr>
            <a:r>
              <a:t>European Union (2016) Regulation (EU) 2016/679 (GDPR); European Union (2024) Regulation (EU) 2024/1689 (AI Act).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2C5"/>
                </a:solidFill>
                <a:latin typeface="Aptos"/>
              </a:defRPr>
            </a:pPr>
            <a:r>
              <a:t>10 peer-reviewed academic works listed; verify bibliographic details and access dates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1192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excalibur</cp:lastModifiedBy>
  <cp:revision>3</cp:revision>
  <dcterms:created xsi:type="dcterms:W3CDTF">2013-01-27T09:14:16Z</dcterms:created>
  <dcterms:modified xsi:type="dcterms:W3CDTF">2026-10-14T07:08:10Z</dcterms:modified>
  <cp:category/>
</cp:coreProperties>
</file>